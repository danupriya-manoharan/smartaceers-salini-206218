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55448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554480"/>
            <a:ext cx="12188952" cy="54864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ACE FlowSmith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agent that accelerates IBM App Connect Enterprise (ACE) development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869680" y="329184"/>
            <a:ext cx="2862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FC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ACE  |  AI-assisted integration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575304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74520"/>
            <a:ext cx="3575304" cy="12801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286000"/>
            <a:ext cx="868680" cy="86868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E76F5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49631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828800" y="242316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3429000"/>
            <a:ext cx="288950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run hundreds of ACE integrations — productivity &amp; governance strain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developers need weeks of onboarding on org-specific practices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subflows exist, but manual discovery &amp; reuse is slow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to deliver faster without breaking compliance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306824" y="1874520"/>
            <a:ext cx="3575304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06824" y="1874520"/>
            <a:ext cx="3575304" cy="128016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15" name="Shape 12"/>
          <p:cNvSpPr/>
          <p:nvPr/>
        </p:nvSpPr>
        <p:spPr>
          <a:xfrm>
            <a:off x="4626864" y="2286000"/>
            <a:ext cx="868680" cy="86868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13A3C7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496312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678424" y="242316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672584" y="3429000"/>
            <a:ext cx="288950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learns org standards: logging, error handling, naming, patterns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plain-English requirement into standardized flows &amp; subflows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runtime artifacts &amp; DEV/ACC/PRO configs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ACE Toolkit; developer reviews &amp; fine-tunes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8156448" y="1874520"/>
            <a:ext cx="3575304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156448" y="1874520"/>
            <a:ext cx="3575304" cy="128016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21" name="Shape 17"/>
          <p:cNvSpPr/>
          <p:nvPr/>
        </p:nvSpPr>
        <p:spPr>
          <a:xfrm>
            <a:off x="8476488" y="2286000"/>
            <a:ext cx="868680" cy="868680"/>
          </a:xfrm>
          <a:prstGeom prst="ellipse">
            <a:avLst/>
          </a:prstGeom>
          <a:solidFill>
            <a:srgbClr val="EEF4F9"/>
          </a:solidFill>
          <a:ln w="19050">
            <a:solidFill>
              <a:srgbClr val="2A9D8F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496312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528048" y="2423160"/>
            <a:ext cx="2020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</a:t>
            </a:r>
            <a:endParaRPr lang="en-US" sz="2200" dirty="0"/>
          </a:p>
        </p:txBody>
      </p:sp>
      <p:sp>
        <p:nvSpPr>
          <p:cNvPr id="24" name="Text 19"/>
          <p:cNvSpPr/>
          <p:nvPr/>
        </p:nvSpPr>
        <p:spPr>
          <a:xfrm>
            <a:off x="8522208" y="3429000"/>
            <a:ext cx="2889504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cut from weeks to minutes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consistency &amp; compliance by default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delivery; maximized reuse of subflows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becomes a reviewer, not a hand-coder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in → standardized ACE application out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7455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28016" cy="1143000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72768"/>
            <a:ext cx="107259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 </a:t>
            </a:r>
            <a:pPr indent="0" marL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agent that runs inside the ACE Toolkit (in the approved JVM — no extra tooling needed). It learns the organisation’s reusable pattern catalog, reasons over a plain-English requirement to pick the right pattern, then instantiates it — substituting org tokens (SUBSYS / APPNM / FUNCNM) across folders, file names and contents — and produces a ready-to-import application with environment configs.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4414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063240"/>
            <a:ext cx="2441448" cy="777240"/>
          </a:xfrm>
          <a:prstGeom prst="rect">
            <a:avLst/>
          </a:prstGeom>
          <a:solidFill>
            <a:srgbClr val="1C4A73"/>
          </a:solidFill>
          <a:ln/>
        </p:spPr>
      </p:sp>
      <p:sp>
        <p:nvSpPr>
          <p:cNvPr id="11" name="Shape 9"/>
          <p:cNvSpPr/>
          <p:nvPr/>
        </p:nvSpPr>
        <p:spPr>
          <a:xfrm>
            <a:off x="1266444" y="3447288"/>
            <a:ext cx="822960" cy="822960"/>
          </a:xfrm>
          <a:prstGeom prst="ellipse">
            <a:avLst/>
          </a:prstGeom>
          <a:solidFill>
            <a:srgbClr val="0E2A47"/>
          </a:solidFill>
          <a:ln w="25400">
            <a:solidFill>
              <a:srgbClr val="13A3C7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612" y="3648456"/>
            <a:ext cx="420624" cy="42062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03504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A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94360" y="436168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Perceive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58368" y="4846320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org’s reusable patterns, naming &amp; standards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2916936" y="40005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A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3401568" y="3063240"/>
            <a:ext cx="24414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401568" y="3063240"/>
            <a:ext cx="2441448" cy="777240"/>
          </a:xfrm>
          <a:prstGeom prst="rect">
            <a:avLst/>
          </a:prstGeom>
          <a:solidFill>
            <a:srgbClr val="1C4A73"/>
          </a:solidFill>
          <a:ln/>
        </p:spPr>
      </p:sp>
      <p:sp>
        <p:nvSpPr>
          <p:cNvPr id="19" name="Shape 16"/>
          <p:cNvSpPr/>
          <p:nvPr/>
        </p:nvSpPr>
        <p:spPr>
          <a:xfrm>
            <a:off x="4210812" y="3447288"/>
            <a:ext cx="822960" cy="822960"/>
          </a:xfrm>
          <a:prstGeom prst="ellipse">
            <a:avLst/>
          </a:prstGeom>
          <a:solidFill>
            <a:srgbClr val="0E2A47"/>
          </a:solidFill>
          <a:ln w="25400">
            <a:solidFill>
              <a:srgbClr val="13A3C7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3648456"/>
            <a:ext cx="420624" cy="42062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547872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A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3538728" y="436168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3602736" y="4846320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the pattern — IBM watsonx.ai (Granite), with a rule-based fallback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5861304" y="40005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A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6345936" y="3063240"/>
            <a:ext cx="24414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345936" y="3063240"/>
            <a:ext cx="2441448" cy="777240"/>
          </a:xfrm>
          <a:prstGeom prst="rect">
            <a:avLst/>
          </a:prstGeom>
          <a:solidFill>
            <a:srgbClr val="1C4A73"/>
          </a:solidFill>
          <a:ln/>
        </p:spPr>
      </p:sp>
      <p:sp>
        <p:nvSpPr>
          <p:cNvPr id="27" name="Shape 23"/>
          <p:cNvSpPr/>
          <p:nvPr/>
        </p:nvSpPr>
        <p:spPr>
          <a:xfrm>
            <a:off x="7155180" y="3447288"/>
            <a:ext cx="822960" cy="822960"/>
          </a:xfrm>
          <a:prstGeom prst="ellipse">
            <a:avLst/>
          </a:prstGeom>
          <a:solidFill>
            <a:srgbClr val="0E2A47"/>
          </a:solidFill>
          <a:ln w="25400">
            <a:solidFill>
              <a:srgbClr val="13A3C7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48" y="3648456"/>
            <a:ext cx="420624" cy="42062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492240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A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6483096" y="436168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800" dirty="0"/>
          </a:p>
        </p:txBody>
      </p:sp>
      <p:sp>
        <p:nvSpPr>
          <p:cNvPr id="31" name="Text 26"/>
          <p:cNvSpPr/>
          <p:nvPr/>
        </p:nvSpPr>
        <p:spPr>
          <a:xfrm>
            <a:off x="6547104" y="4846320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the ACE app + BAR/config artifacts for DEV/ACC/PRO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8805672" y="40005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A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</a:t>
            </a:r>
            <a:endParaRPr lang="en-US" sz="3000" dirty="0"/>
          </a:p>
        </p:txBody>
      </p:sp>
      <p:sp>
        <p:nvSpPr>
          <p:cNvPr id="33" name="Shape 28"/>
          <p:cNvSpPr/>
          <p:nvPr/>
        </p:nvSpPr>
        <p:spPr>
          <a:xfrm>
            <a:off x="9290304" y="3063240"/>
            <a:ext cx="2441448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9290304" y="3063240"/>
            <a:ext cx="2441448" cy="777240"/>
          </a:xfrm>
          <a:prstGeom prst="rect">
            <a:avLst/>
          </a:prstGeom>
          <a:solidFill>
            <a:srgbClr val="1C4A73"/>
          </a:solidFill>
          <a:ln/>
        </p:spPr>
      </p:sp>
      <p:sp>
        <p:nvSpPr>
          <p:cNvPr id="35" name="Shape 30"/>
          <p:cNvSpPr/>
          <p:nvPr/>
        </p:nvSpPr>
        <p:spPr>
          <a:xfrm>
            <a:off x="10099548" y="3447288"/>
            <a:ext cx="822960" cy="822960"/>
          </a:xfrm>
          <a:prstGeom prst="ellipse">
            <a:avLst/>
          </a:prstGeom>
          <a:solidFill>
            <a:srgbClr val="0E2A47"/>
          </a:solidFill>
          <a:ln w="25400">
            <a:solidFill>
              <a:srgbClr val="13A3C7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0716" y="3648456"/>
            <a:ext cx="420624" cy="42062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9436608" y="31729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A3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2"/>
          <p:cNvSpPr/>
          <p:nvPr/>
        </p:nvSpPr>
        <p:spPr>
          <a:xfrm>
            <a:off x="9427464" y="4361688"/>
            <a:ext cx="21671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</a:t>
            </a:r>
            <a:endParaRPr lang="en-US" sz="1800" dirty="0"/>
          </a:p>
        </p:txBody>
      </p:sp>
      <p:sp>
        <p:nvSpPr>
          <p:cNvPr id="39" name="Text 33"/>
          <p:cNvSpPr/>
          <p:nvPr/>
        </p:nvSpPr>
        <p:spPr>
          <a:xfrm>
            <a:off x="9491472" y="4846320"/>
            <a:ext cx="2039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71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validates &amp; fine-tunes, then builds the BAR &amp; deploys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template-driven generation to a fully AI-native ACE copilot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75304" cy="23545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17320"/>
            <a:ext cx="109728" cy="2354580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709928"/>
            <a:ext cx="731520" cy="73152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928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180136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LLM reasoning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2606040"/>
            <a:ext cx="288950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 (Granite) interprets complex requirements and composes brand-new subflows — beyond template selection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06824" y="1417320"/>
            <a:ext cx="3575304" cy="23545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06824" y="1417320"/>
            <a:ext cx="109728" cy="2354580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14" name="Shape 11"/>
          <p:cNvSpPr/>
          <p:nvPr/>
        </p:nvSpPr>
        <p:spPr>
          <a:xfrm>
            <a:off x="4626864" y="1709928"/>
            <a:ext cx="731520" cy="73152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89280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95544" y="180136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Auto-learn standards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4672584" y="2606040"/>
            <a:ext cx="288950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existing repos to learn naming, design patterns &amp; server policies automatically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56448" y="1417320"/>
            <a:ext cx="3575304" cy="23545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56448" y="1417320"/>
            <a:ext cx="109728" cy="2354580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20" name="Shape 16"/>
          <p:cNvSpPr/>
          <p:nvPr/>
        </p:nvSpPr>
        <p:spPr>
          <a:xfrm>
            <a:off x="8476488" y="1709928"/>
            <a:ext cx="731520" cy="73152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189280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45168" y="180136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runtime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8522208" y="2606040"/>
            <a:ext cx="288950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BAR files, server configs, deployment policies &amp; auto-configure security / endpoints / monitoring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7200" y="4046220"/>
            <a:ext cx="3575304" cy="23545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4046220"/>
            <a:ext cx="109728" cy="2354580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26" name="Shape 21"/>
          <p:cNvSpPr/>
          <p:nvPr/>
        </p:nvSpPr>
        <p:spPr>
          <a:xfrm>
            <a:off x="777240" y="4338828"/>
            <a:ext cx="731520" cy="73152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52170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45920" y="443026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Toolkit copilot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822960" y="5234940"/>
            <a:ext cx="288950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assistant inside ACE Toolkit / Designer to build and refine flows by chat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4306824" y="4046220"/>
            <a:ext cx="3575304" cy="23545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306824" y="4046220"/>
            <a:ext cx="109728" cy="2354580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32" name="Shape 26"/>
          <p:cNvSpPr/>
          <p:nvPr/>
        </p:nvSpPr>
        <p:spPr>
          <a:xfrm>
            <a:off x="4626864" y="4338828"/>
            <a:ext cx="731520" cy="73152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744" y="4521708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495544" y="443026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loop</a:t>
            </a:r>
            <a:endParaRPr lang="en-US" sz="1700" dirty="0"/>
          </a:p>
        </p:txBody>
      </p:sp>
      <p:sp>
        <p:nvSpPr>
          <p:cNvPr id="35" name="Text 28"/>
          <p:cNvSpPr/>
          <p:nvPr/>
        </p:nvSpPr>
        <p:spPr>
          <a:xfrm>
            <a:off x="4672584" y="5234940"/>
            <a:ext cx="288950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developer edits to continuously improve recommendations and generated code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8156448" y="4046220"/>
            <a:ext cx="3575304" cy="23545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EC"/>
            </a:solidFill>
            <a:prstDash val="solid"/>
          </a:ln>
          <a:effectLst>
            <a:outerShdw sx="100000" sy="100000" kx="0" ky="0" algn="bl" rotWithShape="0" blurRad="114300" dist="38100" dir="8100000">
              <a:srgbClr val="1A2A3A">
                <a:alpha val="1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156448" y="4046220"/>
            <a:ext cx="109728" cy="2354580"/>
          </a:xfrm>
          <a:prstGeom prst="rect">
            <a:avLst/>
          </a:prstGeom>
          <a:solidFill>
            <a:srgbClr val="13A3C7"/>
          </a:solidFill>
          <a:ln/>
        </p:spPr>
      </p:sp>
      <p:sp>
        <p:nvSpPr>
          <p:cNvPr id="38" name="Shape 31"/>
          <p:cNvSpPr/>
          <p:nvPr/>
        </p:nvSpPr>
        <p:spPr>
          <a:xfrm>
            <a:off x="8476488" y="4338828"/>
            <a:ext cx="731520" cy="731520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4521708"/>
            <a:ext cx="365760" cy="36576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9345168" y="4430268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 &amp; CI/CD</a:t>
            </a:r>
            <a:endParaRPr lang="en-US" sz="1700" dirty="0"/>
          </a:p>
        </p:txBody>
      </p:sp>
      <p:sp>
        <p:nvSpPr>
          <p:cNvPr id="41" name="Text 33"/>
          <p:cNvSpPr/>
          <p:nvPr/>
        </p:nvSpPr>
        <p:spPr>
          <a:xfrm>
            <a:off x="8522208" y="5234940"/>
            <a:ext cx="288950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33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compliance checks, audit trail and pipeline integration for safe, fast delivery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 FlowSmith AI</dc:title>
  <dc:subject>PptxGenJS Presentation</dc:subject>
  <dc:creator>ACE FlowSmith AI</dc:creator>
  <cp:lastModifiedBy>ACE FlowSmith AI</cp:lastModifiedBy>
  <cp:revision>1</cp:revision>
  <dcterms:created xsi:type="dcterms:W3CDTF">2026-06-25T17:46:43Z</dcterms:created>
  <dcterms:modified xsi:type="dcterms:W3CDTF">2026-06-25T17:46:43Z</dcterms:modified>
</cp:coreProperties>
</file>